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2614" autoAdjust="0"/>
  </p:normalViewPr>
  <p:slideViewPr>
    <p:cSldViewPr snapToGrid="0">
      <p:cViewPr varScale="1">
        <p:scale>
          <a:sx n="68" d="100"/>
          <a:sy n="68" d="100"/>
        </p:scale>
        <p:origin x="1253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2BDE8-F4E7-4BA2-8B4B-EA935BF0F35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F614D-061F-4BEF-B49C-A9EBD21403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14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556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r-HR" dirty="0"/>
              <a:t>Molekularni deskriptori = numeričke vrijednosti koje sadrže informacije o kemijskoj strukturi i svojstvima molekule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Daju više informacija nego sama reprezentacija i olakšavaju daljnje korištenje statističkih modela</a:t>
            </a:r>
          </a:p>
          <a:p>
            <a:pPr marL="171450" lvl="0" indent="-171450">
              <a:buFontTx/>
              <a:buChar char="-"/>
            </a:pPr>
            <a:r>
              <a:rPr lang="hr-HR" dirty="0"/>
              <a:t>Dimenzije: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0D deskriptori: osnovna svojstva molekule, poput mase i broja atoma.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1D deskriptori: jednostavne strukturne značajke 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2D deskriptori: topološka svojstva molekule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3D deskriptori: Opisuju geometrijske i prostorne karakteristike molekule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25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- pIC50 = </a:t>
            </a:r>
            <a:r>
              <a:rPr lang="en-GB" dirty="0" err="1"/>
              <a:t>sposobnost</a:t>
            </a:r>
            <a:r>
              <a:rPr lang="en-GB" dirty="0"/>
              <a:t> da se </a:t>
            </a:r>
            <a:r>
              <a:rPr lang="en-GB" dirty="0" err="1"/>
              <a:t>otapa</a:t>
            </a:r>
            <a:r>
              <a:rPr lang="en-GB" dirty="0"/>
              <a:t> u </a:t>
            </a:r>
            <a:r>
              <a:rPr lang="en-GB" dirty="0" err="1"/>
              <a:t>mastima</a:t>
            </a:r>
            <a:r>
              <a:rPr lang="en-GB" dirty="0"/>
              <a:t>, </a:t>
            </a:r>
            <a:r>
              <a:rPr lang="en-GB" dirty="0" err="1"/>
              <a:t>uljima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</a:t>
            </a:r>
            <a:r>
              <a:rPr lang="en-GB" dirty="0" err="1"/>
              <a:t>nepolarnim</a:t>
            </a:r>
            <a:r>
              <a:rPr lang="en-GB" dirty="0"/>
              <a:t> </a:t>
            </a:r>
            <a:r>
              <a:rPr lang="en-GB" dirty="0" err="1"/>
              <a:t>otapalima</a:t>
            </a:r>
            <a:r>
              <a:rPr lang="en-GB" dirty="0"/>
              <a:t>, </a:t>
            </a:r>
            <a:r>
              <a:rPr lang="en-GB" dirty="0" err="1"/>
              <a:t>umjesto</a:t>
            </a:r>
            <a:r>
              <a:rPr lang="en-GB" dirty="0"/>
              <a:t> u </a:t>
            </a:r>
            <a:r>
              <a:rPr lang="en-GB" dirty="0" err="1"/>
              <a:t>vodi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</a:t>
            </a:r>
            <a:r>
              <a:rPr lang="en-GB" dirty="0" err="1"/>
              <a:t>polarnim</a:t>
            </a:r>
            <a:r>
              <a:rPr lang="en-GB" dirty="0"/>
              <a:t> </a:t>
            </a:r>
            <a:r>
              <a:rPr lang="en-GB" dirty="0" err="1"/>
              <a:t>otapalima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309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-mordred -0D, 1D, 2D, 3D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66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r-HR" dirty="0"/>
              <a:t>Pearsonovom korelacijom analizirani su odnosi izmedu značajki. U slučaju da su dvije značajke bile visoko medusobno korelirane, zadržana je ona s većom važnosti prema rezultatima Random Forest analize, dok je druga uklonjena. Ovaj korak osigurao je neovisnost odabranih značajki.</a:t>
            </a:r>
          </a:p>
          <a:p>
            <a:pPr marL="171450" indent="-171450">
              <a:buFontTx/>
              <a:buChar char="-"/>
            </a:pPr>
            <a:r>
              <a:rPr lang="hr-HR" dirty="0"/>
              <a:t>RFECV – iterativna eliminacija značajki koje najmanje pridonose točnosti modela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467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- ARD = tehnika strojnog učenja koja identificira značajke koje najviše doprinose ciljnoj značajki -&gt; prorjeđuje značajke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759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dirty="0"/>
              <a:t>- Podjela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75:25</a:t>
            </a:r>
            <a:r>
              <a:rPr lang="hr-H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70:15:15</a:t>
            </a:r>
            <a:endParaRPr lang="hr-HR" dirty="0"/>
          </a:p>
          <a:p>
            <a:r>
              <a:rPr lang="hr-HR" dirty="0"/>
              <a:t>- R**2 = proporcija varijance ciljne značajke koja je objašnjena ostalim značajkama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560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r-HR" dirty="0"/>
              <a:t>L2 regularizirana regresija = vrsta linearne regresije koja uključuje regularizacijsku konstantu kako bi se spriječila prenaučenost</a:t>
            </a:r>
          </a:p>
          <a:p>
            <a:pPr marL="171450" indent="-171450">
              <a:buFontTx/>
              <a:buChar char="-"/>
            </a:pPr>
            <a:r>
              <a:rPr lang="hr-HR" dirty="0"/>
              <a:t>XGBoost = Extreme Gradient Boosting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Slijedno gradi više stabala odluke, gdje svako stablo ispravlja greške prethodnog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Finese: L1 i L2 regularizacija, obrezivanje stabala, paralelna gradnja stabala, </a:t>
            </a:r>
          </a:p>
          <a:p>
            <a:pPr marL="628650" lvl="1" indent="-171450">
              <a:buFontTx/>
              <a:buChar char="-"/>
            </a:pPr>
            <a:r>
              <a:rPr lang="hr-HR" dirty="0"/>
              <a:t>Brz, robustan na šum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043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XGBoost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208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/>
              <a:t>CNN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F614D-061F-4BEF-B49C-A9EBD21403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42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9346-2045-5F81-2F60-F26943075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F8176-8BC0-9DBF-22A5-D63051E0D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2D485-C7D2-8682-FA9E-A8A070D4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50969-B0B0-5C7C-70D4-162C90A2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A3406-1322-E4F6-8296-417AC545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5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8A8F2-CB00-71D0-5B3D-11048B03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F641-E0D8-6D2D-B40A-5EBAB1EDA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BB30A-BE68-B41F-CC63-B5439779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39D23-2E52-87EE-522A-0FCC6975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A5A59-50FB-E1E9-21AD-96A156C7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20FC-F7E4-B765-DC5E-FEA54D821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CED9E-2446-FDFC-8B2E-46AFBBD54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7720-EEE8-69AD-2A73-5B816511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64296-B06B-4E1F-0DB9-DFDB5845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10ED3-076D-AEAC-A866-7CB54C4B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84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E2A0-A881-EBD3-0112-A94B0A91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EFA6-76C8-DDDF-0045-8D808711A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0BBFA-A3EF-4256-C14A-D98322B1D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765BD-1266-DF17-9932-08FDF01A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F0085-8A99-0E4A-26F5-13CBE709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06F4F-60B3-1E02-A2BF-D83BAB85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D5A9-A2AF-34E3-1F3A-6C9F06DF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8F812-3D3C-B296-E6C4-91464423C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88346-0EFF-6338-F080-BD454C281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8F9F1-EC11-505F-6AC7-FBF824626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7DE2A-B16F-E057-C913-4F1D7E663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D4A95-6223-9698-0EB1-C07E9107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4085B-E047-EE93-6080-81FFA2C8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22A44-64F8-6778-D78C-FAAB6904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11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3BA1-292E-AF03-9A51-8ED31BCC4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03D7D-D5FB-342E-A2FB-AA264E23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78435-DF4F-C9F6-AF19-84BA391E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E71C7-12F4-105C-9BED-BA4B92DB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19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18D2A-478C-1B82-CFE2-81156EF5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0D7E6-B24C-6164-B8F1-EA7CE132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5606-21A1-1D27-4F29-F3FDB104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55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1B11-64E1-87C5-4162-980087DC3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026B-736A-6D01-8C9D-5C88D78F4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BD54F-3892-1594-6E9F-079F715F0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D891C-5306-69DF-16D6-A5B76112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F8FD6-C8E1-6E5A-9010-68D6EA81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EC238-722B-31AC-6EE6-1B792D53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88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B4B0-F081-17B7-CE2A-F5B763DB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A6C500-65C7-9914-F606-7E4FE7D6A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14D80-D145-9AAC-9394-AF202D510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6E11F-8B02-3F0E-830E-FF6101FA3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B1B74-4EDF-2AD5-8F97-FCF53A1E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E7FAA-D4F5-6A99-3633-859DC654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62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51CE-FD25-81FB-42E6-51BED3FC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283AB-D10D-7405-7A46-612CCBBFC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52693-BA4D-C21C-5499-623BDCEF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3FE60-FBDB-9CE2-8B44-FD6345B5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EB67-391F-262D-1DEC-A6921CEE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0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B113A-75F5-FAE3-FBA7-8EDAFD7B0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06925-8493-3DDE-D962-5E0F0AD5A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D142B-4633-6519-E8C9-C340D6EC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9984-4AAD-D4E1-4EE2-025FAA91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4B8B1-D115-C7CC-565E-DB92F6C9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68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E456C-6F0C-F46B-B24C-D6100C71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01261-4E4D-AB5D-05CB-EAAF62DB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15759-5E31-7D52-DC9D-59659B40B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F509A-CF2B-4A0D-9E87-7B9F42E8A89A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75EFA-5D38-032E-A655-29BE0EC71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638F3-FFF1-CD96-5D85-1EE9C3A73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ACAA2-84D8-4648-92A1-4DECF7B1A9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22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5374A-7F26-359B-3E6A-233D609A5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GB" sz="6300" dirty="0" err="1"/>
              <a:t>Predvidanje</a:t>
            </a:r>
            <a:r>
              <a:rPr lang="en-GB" sz="6300" dirty="0"/>
              <a:t> </a:t>
            </a:r>
            <a:r>
              <a:rPr lang="hr-HR" sz="6300" dirty="0"/>
              <a:t>molekularne značajke </a:t>
            </a:r>
            <a:r>
              <a:rPr lang="hr-HR" sz="6300" i="1" dirty="0"/>
              <a:t>pIC50</a:t>
            </a:r>
            <a:r>
              <a:rPr lang="hr-HR" sz="6300" dirty="0"/>
              <a:t> korištenjem metoda strojnog učenja</a:t>
            </a:r>
            <a:endParaRPr lang="en-GB" sz="6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A8002-F684-4696-716B-BF399C863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hr-HR" dirty="0"/>
              <a:t>Toni Borina, Ana Francesca Stama, Ana Vrabec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74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70A7B-8177-5ADD-CE06-CCF518B6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" y="320412"/>
            <a:ext cx="5186580" cy="6030909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BE8CE-083A-F220-F498-17EBDEB4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60" y="739999"/>
            <a:ext cx="5642312" cy="1597228"/>
          </a:xfrm>
        </p:spPr>
        <p:txBody>
          <a:bodyPr>
            <a:normAutofit/>
          </a:bodyPr>
          <a:lstStyle/>
          <a:p>
            <a:r>
              <a:rPr lang="hr-HR" sz="4800" dirty="0"/>
              <a:t>Kemoinformatika</a:t>
            </a: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214B-66C9-059C-B48A-AC2C5B6D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59" y="2337228"/>
            <a:ext cx="5642311" cy="3126594"/>
          </a:xfrm>
        </p:spPr>
        <p:txBody>
          <a:bodyPr anchor="t">
            <a:normAutofit/>
          </a:bodyPr>
          <a:lstStyle/>
          <a:p>
            <a:r>
              <a:rPr lang="hr-HR" sz="2400" dirty="0"/>
              <a:t>= kemija + računalna znanost</a:t>
            </a:r>
          </a:p>
          <a:p>
            <a:r>
              <a:rPr lang="hr-HR" sz="2400" dirty="0"/>
              <a:t>Razvoj lijekova, istaživanje prostora molekula, generiranje molekula, ...</a:t>
            </a:r>
          </a:p>
          <a:p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104C5D-9A39-4612-4381-66A014082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256" y="3541218"/>
            <a:ext cx="3430342" cy="315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0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B503A-6AEA-7FAB-E492-8F7CFBA2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767645"/>
            <a:ext cx="8074815" cy="5002220"/>
          </a:xfrm>
        </p:spPr>
        <p:txBody>
          <a:bodyPr anchor="t">
            <a:normAutofit/>
          </a:bodyPr>
          <a:lstStyle/>
          <a:p>
            <a:r>
              <a:rPr lang="hr-HR" sz="2400" dirty="0"/>
              <a:t>Molekularni deskriptori</a:t>
            </a:r>
          </a:p>
          <a:p>
            <a:pPr lvl="1"/>
            <a:r>
              <a:rPr lang="hr-HR" dirty="0"/>
              <a:t>Topološki - </a:t>
            </a:r>
            <a:r>
              <a:rPr lang="en-GB" dirty="0" err="1"/>
              <a:t>povezanost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oblik</a:t>
            </a:r>
            <a:r>
              <a:rPr lang="en-GB" dirty="0"/>
              <a:t> </a:t>
            </a:r>
            <a:r>
              <a:rPr lang="en-GB" dirty="0" err="1"/>
              <a:t>molekule</a:t>
            </a:r>
            <a:endParaRPr lang="hr-HR" dirty="0"/>
          </a:p>
          <a:p>
            <a:pPr lvl="1"/>
            <a:r>
              <a:rPr lang="hr-HR" dirty="0"/>
              <a:t>Geometrijski – </a:t>
            </a:r>
            <a:r>
              <a:rPr lang="en-GB" dirty="0" err="1"/>
              <a:t>volumen</a:t>
            </a:r>
            <a:r>
              <a:rPr lang="hr-HR" dirty="0"/>
              <a:t>, površina, oblik</a:t>
            </a:r>
          </a:p>
          <a:p>
            <a:pPr lvl="1"/>
            <a:r>
              <a:rPr lang="hr-HR" dirty="0"/>
              <a:t>Elektron-vezani - </a:t>
            </a:r>
            <a:r>
              <a:rPr lang="en-GB" dirty="0" err="1"/>
              <a:t>parcijalnih</a:t>
            </a:r>
            <a:r>
              <a:rPr lang="en-GB" dirty="0"/>
              <a:t> </a:t>
            </a:r>
            <a:r>
              <a:rPr lang="en-GB" dirty="0" err="1"/>
              <a:t>naboj</a:t>
            </a:r>
            <a:r>
              <a:rPr lang="en-GB" dirty="0"/>
              <a:t>, </a:t>
            </a:r>
            <a:r>
              <a:rPr lang="en-GB" dirty="0" err="1"/>
              <a:t>polarizabilnost</a:t>
            </a:r>
            <a:endParaRPr lang="hr-HR" dirty="0"/>
          </a:p>
          <a:p>
            <a:pPr lvl="1"/>
            <a:r>
              <a:rPr lang="hr-HR" dirty="0"/>
              <a:t>Fizikalno-kemijski – ponašanje u reakcijama i sustavima</a:t>
            </a:r>
          </a:p>
          <a:p>
            <a:pPr lvl="1"/>
            <a:r>
              <a:rPr lang="hr-HR" dirty="0"/>
              <a:t>0D, 1D, 2D i 3D deskriptori</a:t>
            </a:r>
          </a:p>
          <a:p>
            <a:pPr lvl="1"/>
            <a:endParaRPr lang="hr-HR" dirty="0"/>
          </a:p>
          <a:p>
            <a:pPr lvl="1"/>
            <a:endParaRPr lang="hr-HR" dirty="0"/>
          </a:p>
          <a:p>
            <a:r>
              <a:rPr lang="hr-HR" sz="2400" dirty="0"/>
              <a:t>Traženje substruktura, klastering, predikcije značajki, ...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849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722CF-C47B-8485-FDA8-4D42DF012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34" y="623275"/>
            <a:ext cx="3631103" cy="5607882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683A4-1C69-91E7-A022-212816A4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271" y="728711"/>
            <a:ext cx="5642312" cy="1597228"/>
          </a:xfrm>
        </p:spPr>
        <p:txBody>
          <a:bodyPr>
            <a:normAutofit/>
          </a:bodyPr>
          <a:lstStyle/>
          <a:p>
            <a:r>
              <a:rPr lang="hr-HR" sz="4800" dirty="0"/>
              <a:t>Podaci</a:t>
            </a: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8ECA-EB60-EB16-FE85-82B9E24EC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431375"/>
            <a:ext cx="5616923" cy="3295101"/>
          </a:xfrm>
        </p:spPr>
        <p:txBody>
          <a:bodyPr anchor="t">
            <a:normAutofit/>
          </a:bodyPr>
          <a:lstStyle/>
          <a:p>
            <a:r>
              <a:rPr lang="hr-HR" sz="2400" dirty="0"/>
              <a:t>479 molekula</a:t>
            </a:r>
          </a:p>
          <a:p>
            <a:r>
              <a:rPr lang="hr-HR" sz="2400" dirty="0"/>
              <a:t>Ciljna značajka </a:t>
            </a:r>
            <a:r>
              <a:rPr lang="hr-HR" sz="2400" i="1" dirty="0"/>
              <a:t>pIC50 – </a:t>
            </a:r>
            <a:r>
              <a:rPr lang="hr-HR" sz="2400" dirty="0"/>
              <a:t>mjera lipofilnosti molekule</a:t>
            </a:r>
          </a:p>
          <a:p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40665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5AC91-E726-3D26-092E-2926323C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39" y="623275"/>
            <a:ext cx="8074815" cy="1618489"/>
          </a:xfrm>
        </p:spPr>
        <p:txBody>
          <a:bodyPr anchor="ctr">
            <a:normAutofit/>
          </a:bodyPr>
          <a:lstStyle/>
          <a:p>
            <a:r>
              <a:rPr lang="hr-HR" sz="4800" dirty="0"/>
              <a:t>Predobrada podataka</a:t>
            </a: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12BF-A18E-1887-5284-7725689C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144889"/>
            <a:ext cx="9721427" cy="3624975"/>
          </a:xfrm>
        </p:spPr>
        <p:txBody>
          <a:bodyPr anchor="t"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hr-HR" sz="2400" dirty="0"/>
              <a:t>Dohvaćanje SMILES zapisa</a:t>
            </a:r>
          </a:p>
          <a:p>
            <a:pPr lvl="1"/>
            <a:r>
              <a:rPr lang="hr-HR" dirty="0"/>
              <a:t>CHEMBL REST API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dirty="0"/>
              <a:t>Normalizacija SMILES zapisa</a:t>
            </a:r>
          </a:p>
          <a:p>
            <a:pPr lvl="1"/>
            <a:r>
              <a:rPr lang="hr-HR" dirty="0"/>
              <a:t>Konzistentnost i jednoznačnost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dirty="0"/>
              <a:t>Generiranje 3D struktura</a:t>
            </a:r>
          </a:p>
          <a:p>
            <a:pPr lvl="1"/>
            <a:r>
              <a:rPr lang="hr-HR" dirty="0"/>
              <a:t>Konformacije uz dodatak vodikovih atoma, optimizacija geometrije, energetska minimizacija 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dirty="0"/>
              <a:t>Izračun molekularnih deskriptora</a:t>
            </a:r>
          </a:p>
          <a:p>
            <a:pPr lvl="1"/>
            <a:r>
              <a:rPr lang="hr-HR" dirty="0"/>
              <a:t>Biblioteka Mordred</a:t>
            </a:r>
          </a:p>
        </p:txBody>
      </p:sp>
    </p:spTree>
    <p:extLst>
      <p:ext uri="{BB962C8B-B14F-4D97-AF65-F5344CB8AC3E}">
        <p14:creationId xmlns:p14="http://schemas.microsoft.com/office/powerpoint/2010/main" val="194388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C46EB-61BF-3222-FB2A-F69AF9B74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22" y="1708824"/>
            <a:ext cx="4015568" cy="3436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BB6A4-8F34-7A44-6412-BCABE18B4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095022"/>
            <a:ext cx="5943318" cy="4631454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hr-HR" sz="2400" dirty="0"/>
              <a:t>Čišćenje podataka</a:t>
            </a:r>
          </a:p>
          <a:p>
            <a:pPr lvl="1"/>
            <a:r>
              <a:rPr lang="hr-HR" dirty="0"/>
              <a:t>Uklanjanje deskriptora s nenumeričkim i gotovo konstantnim vrijednostima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hr-HR" sz="2400" dirty="0"/>
              <a:t>Skaliranje podataka</a:t>
            </a:r>
          </a:p>
          <a:p>
            <a:pPr lvl="1"/>
            <a:r>
              <a:rPr lang="hr-HR" dirty="0"/>
              <a:t>Zbog usporedbe i daljnjeg modeliranja</a:t>
            </a:r>
          </a:p>
          <a:p>
            <a:pPr lvl="1"/>
            <a:endParaRPr lang="hr-HR" dirty="0"/>
          </a:p>
          <a:p>
            <a:pPr lvl="1"/>
            <a:endParaRPr lang="hr-HR" dirty="0"/>
          </a:p>
          <a:p>
            <a:pPr lvl="1"/>
            <a:endParaRPr lang="hr-HR" dirty="0"/>
          </a:p>
          <a:p>
            <a:r>
              <a:rPr lang="hr-HR" sz="2400" dirty="0"/>
              <a:t>Rezultat: 844 značajke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761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E00A9-64EC-5C74-505C-23305EA0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623275"/>
            <a:ext cx="8074815" cy="1618489"/>
          </a:xfrm>
        </p:spPr>
        <p:txBody>
          <a:bodyPr anchor="ctr">
            <a:normAutofit/>
          </a:bodyPr>
          <a:lstStyle/>
          <a:p>
            <a:r>
              <a:rPr lang="hr-HR" sz="4800" dirty="0"/>
              <a:t>Redukcija značajki</a:t>
            </a: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4EF7A-2DB5-CA46-BE35-8A3E11BC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020711"/>
            <a:ext cx="9518227" cy="3749154"/>
          </a:xfrm>
        </p:spPr>
        <p:txBody>
          <a:bodyPr anchor="t">
            <a:normAutofit lnSpcReduction="10000"/>
          </a:bodyPr>
          <a:lstStyle/>
          <a:p>
            <a:r>
              <a:rPr lang="hr-HR" sz="2400" dirty="0"/>
              <a:t>Kombinacija 3 različita pristupa</a:t>
            </a:r>
          </a:p>
          <a:p>
            <a:endParaRPr lang="hr-HR" sz="2400" dirty="0"/>
          </a:p>
          <a:p>
            <a:pPr marL="514350" indent="-514350">
              <a:buAutoNum type="arabicPeriod"/>
            </a:pPr>
            <a:r>
              <a:rPr lang="hr-HR" sz="2400" dirty="0"/>
              <a:t>Rekurzivna eliminacija značajki (RFE)</a:t>
            </a:r>
          </a:p>
          <a:p>
            <a:pPr lvl="1"/>
            <a:r>
              <a:rPr lang="hr-HR" dirty="0"/>
              <a:t>Random Forest Regressor</a:t>
            </a:r>
          </a:p>
          <a:p>
            <a:pPr lvl="1"/>
            <a:r>
              <a:rPr lang="hr-HR" dirty="0"/>
              <a:t>Uklonjeni autokorelacijski deskriptori – 156 deskriptora</a:t>
            </a:r>
          </a:p>
          <a:p>
            <a:pPr lvl="1"/>
            <a:r>
              <a:rPr lang="hr-HR" dirty="0"/>
              <a:t>Zadržano 60 značajki na temelju važnosti dobivene regresijom</a:t>
            </a:r>
          </a:p>
          <a:p>
            <a:pPr lvl="1"/>
            <a:r>
              <a:rPr lang="hr-HR" dirty="0"/>
              <a:t>Pearsonova korelacija – neovisnost značajki</a:t>
            </a:r>
          </a:p>
          <a:p>
            <a:pPr lvl="1"/>
            <a:r>
              <a:rPr lang="hr-HR" i="1" dirty="0"/>
              <a:t>R</a:t>
            </a:r>
            <a:r>
              <a:rPr lang="en-GB" i="1" dirty="0" err="1"/>
              <a:t>ecursive</a:t>
            </a:r>
            <a:r>
              <a:rPr lang="en-GB" i="1" dirty="0"/>
              <a:t> Feature</a:t>
            </a:r>
            <a:r>
              <a:rPr lang="hr-HR" i="1" dirty="0"/>
              <a:t> </a:t>
            </a:r>
            <a:r>
              <a:rPr lang="en-GB" i="1" dirty="0"/>
              <a:t>Elimination with Cross-Validation </a:t>
            </a:r>
            <a:r>
              <a:rPr lang="en-GB" dirty="0"/>
              <a:t>(RFECV )</a:t>
            </a:r>
            <a:r>
              <a:rPr lang="hr-HR" dirty="0"/>
              <a:t> – iterativna eliminacija značajki</a:t>
            </a:r>
            <a:r>
              <a:rPr lang="en-GB" dirty="0"/>
              <a:t> </a:t>
            </a:r>
            <a:endParaRPr lang="hr-HR" dirty="0"/>
          </a:p>
          <a:p>
            <a:pPr lvl="1"/>
            <a:r>
              <a:rPr lang="hr-HR" dirty="0"/>
              <a:t>Redukcija na 32 značajke</a:t>
            </a:r>
          </a:p>
        </p:txBody>
      </p:sp>
    </p:spTree>
    <p:extLst>
      <p:ext uri="{BB962C8B-B14F-4D97-AF65-F5344CB8AC3E}">
        <p14:creationId xmlns:p14="http://schemas.microsoft.com/office/powerpoint/2010/main" val="32716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9E3CD-56F7-1D01-909B-23A0D6CD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968" y="699785"/>
            <a:ext cx="3879651" cy="4051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4CD2F7-3512-DCDC-DD3E-B4E784F74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40" y="599657"/>
            <a:ext cx="4579558" cy="3675094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F240C-1552-1C71-27FD-B59EDFA6C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140" y="3897442"/>
            <a:ext cx="8380082" cy="27996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r-HR" sz="2400" dirty="0"/>
              <a:t>2. Automatic Relevance Detection (ARD)</a:t>
            </a:r>
          </a:p>
          <a:p>
            <a:pPr lvl="1"/>
            <a:r>
              <a:rPr lang="hr-HR" dirty="0"/>
              <a:t>Bayesovo zaključivanje i probabilističko modeliranje</a:t>
            </a:r>
          </a:p>
          <a:p>
            <a:pPr lvl="1"/>
            <a:r>
              <a:rPr lang="hr-HR" dirty="0"/>
              <a:t>Identifikacija „koljena” grafa</a:t>
            </a:r>
          </a:p>
          <a:p>
            <a:pPr lvl="1"/>
            <a:r>
              <a:rPr lang="hr-HR" dirty="0"/>
              <a:t>Redukcija na 30 značajki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138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C4A814-703D-7D3D-7263-BBC2BE9F5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86" y="2263728"/>
            <a:ext cx="3888080" cy="3967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360999-B8E5-464F-72DC-5C41CC84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354" y="784292"/>
            <a:ext cx="5179047" cy="3482908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B11E1-F170-CD3E-BBF9-468C8BA81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166" y="229023"/>
            <a:ext cx="5414878" cy="27996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r-HR" sz="2400" dirty="0"/>
              <a:t>3. Random Forest</a:t>
            </a:r>
            <a:endParaRPr lang="hr-HR" dirty="0"/>
          </a:p>
          <a:p>
            <a:pPr lvl="1"/>
            <a:r>
              <a:rPr lang="hr-HR" dirty="0"/>
              <a:t>Redukcija na 30 značajki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200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E7EC5-8CC7-4259-4DC5-6A5A853D2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" y="1020269"/>
            <a:ext cx="4667843" cy="46795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25E55-59B6-03CF-8285-41E0A0D59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0513" y="1158189"/>
            <a:ext cx="5555798" cy="2728198"/>
          </a:xfrm>
        </p:spPr>
        <p:txBody>
          <a:bodyPr anchor="t">
            <a:normAutofit/>
          </a:bodyPr>
          <a:lstStyle/>
          <a:p>
            <a:r>
              <a:rPr lang="hr-HR" sz="2400" dirty="0"/>
              <a:t>Kombinacija pristupa</a:t>
            </a:r>
          </a:p>
          <a:p>
            <a:pPr lvl="1"/>
            <a:r>
              <a:rPr lang="hr-HR" dirty="0"/>
              <a:t>Normalizacija i zbrajanje važnosti značajki</a:t>
            </a:r>
          </a:p>
          <a:p>
            <a:pPr lvl="1"/>
            <a:r>
              <a:rPr lang="hr-HR" dirty="0"/>
              <a:t>Konačna redukcija na 32 značajke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51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F0EFB-0083-AC98-0149-772CAEA8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485" y="541849"/>
            <a:ext cx="8074815" cy="1618489"/>
          </a:xfrm>
        </p:spPr>
        <p:txBody>
          <a:bodyPr anchor="ctr">
            <a:normAutofit/>
          </a:bodyPr>
          <a:lstStyle/>
          <a:p>
            <a:r>
              <a:rPr lang="hr-HR" sz="4800" dirty="0"/>
              <a:t>Modeli</a:t>
            </a:r>
            <a:endParaRPr lang="en-GB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BDED1-E1D0-3E84-672B-963DEAC9E8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5240" y="2160339"/>
                <a:ext cx="8074815" cy="3609526"/>
              </a:xfrm>
            </p:spPr>
            <p:txBody>
              <a:bodyPr anchor="t">
                <a:normAutofit/>
              </a:bodyPr>
              <a:lstStyle/>
              <a:p>
                <a:r>
                  <a:rPr lang="hr-HR" sz="2400" dirty="0"/>
                  <a:t>Metrike</a:t>
                </a:r>
              </a:p>
              <a:p>
                <a:pPr lvl="1"/>
                <a:r>
                  <a:rPr lang="hr-HR" dirty="0"/>
                  <a:t>Srednje kvadratno odstupanje (MSE)</a:t>
                </a:r>
              </a:p>
              <a:p>
                <a:pPr lvl="1"/>
                <a:r>
                  <a:rPr lang="hr-HR" dirty="0"/>
                  <a:t>Korijen srednjeg kvadratnog odstupanja (RMSE)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r-HR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r-HR" dirty="0"/>
              </a:p>
              <a:p>
                <a:pPr lvl="1"/>
                <a:endParaRPr lang="hr-HR" dirty="0"/>
              </a:p>
              <a:p>
                <a:r>
                  <a:rPr lang="hr-HR" sz="2400" dirty="0"/>
                  <a:t>Linearna regresij</a:t>
                </a:r>
              </a:p>
              <a:p>
                <a:r>
                  <a:rPr lang="hr-HR" sz="2400" dirty="0"/>
                  <a:t>Stroj potpornih vektora (SVM)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BDED1-E1D0-3E84-672B-963DEAC9E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240" y="2160339"/>
                <a:ext cx="8074815" cy="3609526"/>
              </a:xfrm>
              <a:blipFill>
                <a:blip r:embed="rId3"/>
                <a:stretch>
                  <a:fillRect l="-1057" t="-21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618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EFED9-A2A5-C80E-5047-0D0182CE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993423"/>
            <a:ext cx="9281160" cy="4776442"/>
          </a:xfrm>
        </p:spPr>
        <p:txBody>
          <a:bodyPr anchor="t">
            <a:normAutofit/>
          </a:bodyPr>
          <a:lstStyle/>
          <a:p>
            <a:r>
              <a:rPr lang="hr-HR" sz="2400" dirty="0"/>
              <a:t>L2 regularizirana regresija</a:t>
            </a:r>
          </a:p>
          <a:p>
            <a:pPr lvl="1"/>
            <a:r>
              <a:rPr lang="hr-HR" dirty="0"/>
              <a:t>Optimizacija </a:t>
            </a:r>
            <a:r>
              <a:rPr lang="en-GB" dirty="0"/>
              <a:t>snag</a:t>
            </a:r>
            <a:r>
              <a:rPr lang="hr-HR" dirty="0"/>
              <a:t>e </a:t>
            </a:r>
            <a:r>
              <a:rPr lang="en-GB" dirty="0" err="1"/>
              <a:t>regularizacije</a:t>
            </a:r>
            <a:r>
              <a:rPr lang="hr-HR" dirty="0"/>
              <a:t> na validacijskom setu</a:t>
            </a:r>
          </a:p>
          <a:p>
            <a:r>
              <a:rPr lang="hr-HR" sz="2400" dirty="0"/>
              <a:t>XGBoost</a:t>
            </a:r>
          </a:p>
          <a:p>
            <a:pPr lvl="1"/>
            <a:r>
              <a:rPr lang="hr-HR" i="1" dirty="0"/>
              <a:t>Extreme Gradient Boosting</a:t>
            </a:r>
          </a:p>
          <a:p>
            <a:pPr lvl="1"/>
            <a:r>
              <a:rPr lang="hr-HR" dirty="0"/>
              <a:t>GridSearch, 3-struka unakrsna validacija</a:t>
            </a:r>
          </a:p>
          <a:p>
            <a:pPr lvl="1"/>
            <a:r>
              <a:rPr lang="hr-HR" dirty="0"/>
              <a:t>Negativna srednja kvadratna pogreška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234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7782-21CC-E8F4-077E-11AE21D1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475971"/>
            <a:ext cx="8074815" cy="3293893"/>
          </a:xfrm>
        </p:spPr>
        <p:txBody>
          <a:bodyPr anchor="t">
            <a:normAutofit/>
          </a:bodyPr>
          <a:lstStyle/>
          <a:p>
            <a:r>
              <a:rPr lang="hr-HR" sz="2400" dirty="0"/>
              <a:t>Duboka neuronska mreža</a:t>
            </a:r>
          </a:p>
          <a:p>
            <a:pPr lvl="1"/>
            <a:r>
              <a:rPr lang="hr-HR" dirty="0"/>
              <a:t>7393 parametara</a:t>
            </a:r>
          </a:p>
          <a:p>
            <a:pPr lvl="1"/>
            <a:r>
              <a:rPr lang="hr-HR" dirty="0"/>
              <a:t>3-struka unakrsna validacija</a:t>
            </a:r>
          </a:p>
          <a:p>
            <a:pPr lvl="1"/>
            <a:r>
              <a:rPr lang="hr-HR" dirty="0"/>
              <a:t>Loss: MSE, optimizer: Adam</a:t>
            </a:r>
          </a:p>
          <a:p>
            <a:pPr lvl="1"/>
            <a:r>
              <a:rPr lang="hr-HR" dirty="0"/>
              <a:t>Treniranje 100 epoha</a:t>
            </a:r>
          </a:p>
          <a:p>
            <a:pPr lvl="1"/>
            <a:endParaRPr lang="hr-HR" sz="2000" dirty="0"/>
          </a:p>
          <a:p>
            <a:pPr lvl="1"/>
            <a:endParaRPr lang="hr-H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D120F-1D2B-8B10-5626-B4F866F5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22" y="872182"/>
            <a:ext cx="11842045" cy="1298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E10409-7F39-E08D-72CF-F4B0BA44D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92" y="2475971"/>
            <a:ext cx="4298036" cy="329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2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367C6-DF68-F271-7901-F32CF8826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0578" y="948267"/>
            <a:ext cx="8071555" cy="4821597"/>
          </a:xfrm>
        </p:spPr>
        <p:txBody>
          <a:bodyPr anchor="t">
            <a:normAutofit/>
          </a:bodyPr>
          <a:lstStyle/>
          <a:p>
            <a:r>
              <a:rPr lang="hr-HR" sz="2400" dirty="0"/>
              <a:t>Konvolucijska neuronska mreža</a:t>
            </a:r>
          </a:p>
          <a:p>
            <a:pPr lvl="1"/>
            <a:r>
              <a:rPr lang="en-GB" dirty="0"/>
              <a:t>1965</a:t>
            </a:r>
            <a:r>
              <a:rPr lang="hr-HR" dirty="0"/>
              <a:t> parametara</a:t>
            </a:r>
          </a:p>
          <a:p>
            <a:pPr lvl="1"/>
            <a:r>
              <a:rPr lang="hr-HR" dirty="0"/>
              <a:t>3-struka unakrsna validacija</a:t>
            </a:r>
          </a:p>
          <a:p>
            <a:pPr lvl="1"/>
            <a:r>
              <a:rPr lang="hr-HR" dirty="0"/>
              <a:t>Loss: MSE, optimizer: Adam</a:t>
            </a:r>
          </a:p>
          <a:p>
            <a:pPr lvl="1"/>
            <a:r>
              <a:rPr lang="hr-HR" dirty="0"/>
              <a:t>Treniranje 200 epoha</a:t>
            </a:r>
          </a:p>
          <a:p>
            <a:pPr lvl="1"/>
            <a:endParaRPr lang="hr-HR" dirty="0"/>
          </a:p>
          <a:p>
            <a:pPr lvl="1"/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176F2-147A-BB14-0316-A5A9D514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7" y="115274"/>
            <a:ext cx="3057321" cy="6686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01A3C1-529C-EB98-F48A-BB1745815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400" y="2692710"/>
            <a:ext cx="4197733" cy="321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89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63866-D04B-6A86-8656-EDA3FB16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992" y="664013"/>
            <a:ext cx="9984615" cy="1597228"/>
          </a:xfrm>
        </p:spPr>
        <p:txBody>
          <a:bodyPr>
            <a:normAutofit/>
          </a:bodyPr>
          <a:lstStyle/>
          <a:p>
            <a:r>
              <a:rPr lang="hr-HR" sz="6000" dirty="0"/>
              <a:t>Rezultati</a:t>
            </a:r>
            <a:endParaRPr lang="en-GB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3AA530-15B8-5497-E3FB-68C5F0201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287" y="2605243"/>
            <a:ext cx="6844357" cy="285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91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6C175-3654-80DA-2D00-C203EB63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endParaRPr lang="en-GB" sz="7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29C822-741C-DC94-B4E2-540DCE8D9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9373" y="903111"/>
            <a:ext cx="9739087" cy="4820356"/>
          </a:xfrm>
        </p:spPr>
      </p:pic>
    </p:spTree>
    <p:extLst>
      <p:ext uri="{BB962C8B-B14F-4D97-AF65-F5344CB8AC3E}">
        <p14:creationId xmlns:p14="http://schemas.microsoft.com/office/powerpoint/2010/main" val="3775425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E94E4-83F4-64DC-97A6-FFF9E92CA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endParaRPr lang="en-GB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9548E-81B0-AA43-F03B-ABCDC6BBC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lang="en-GB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7FF53-7D2A-F2E2-1300-95481B8D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89" y="970531"/>
            <a:ext cx="9681986" cy="47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16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783EA-6273-6443-8695-8F256407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endParaRPr lang="en-GB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E21A-3370-97E6-0C02-B2883D16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12755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568</Words>
  <Application>Microsoft Office PowerPoint</Application>
  <PresentationFormat>Widescreen</PresentationFormat>
  <Paragraphs>109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Predvidanje molekularne značajke pIC50 korištenjem metoda strojnog učenja</vt:lpstr>
      <vt:lpstr>Kemoinformatika</vt:lpstr>
      <vt:lpstr>PowerPoint Presentation</vt:lpstr>
      <vt:lpstr>Podaci</vt:lpstr>
      <vt:lpstr>Predobrada podataka</vt:lpstr>
      <vt:lpstr>PowerPoint Presentation</vt:lpstr>
      <vt:lpstr>Redukcija značajki</vt:lpstr>
      <vt:lpstr>PowerPoint Presentation</vt:lpstr>
      <vt:lpstr>PowerPoint Presentation</vt:lpstr>
      <vt:lpstr>PowerPoint Presentation</vt:lpstr>
      <vt:lpstr>Modeli</vt:lpstr>
      <vt:lpstr>PowerPoint Presentation</vt:lpstr>
      <vt:lpstr>PowerPoint Presentation</vt:lpstr>
      <vt:lpstr>PowerPoint Presentation</vt:lpstr>
      <vt:lpstr>Rezultati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Ana-Francesca Stama</dc:creator>
  <cp:lastModifiedBy>Ana-Francesca Stama</cp:lastModifiedBy>
  <cp:revision>24</cp:revision>
  <dcterms:created xsi:type="dcterms:W3CDTF">2025-01-28T18:32:47Z</dcterms:created>
  <dcterms:modified xsi:type="dcterms:W3CDTF">2025-01-29T09:43:06Z</dcterms:modified>
</cp:coreProperties>
</file>